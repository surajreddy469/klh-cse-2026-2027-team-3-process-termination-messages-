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rgbClr val="12232A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86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2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rgbClr val="FFFFFF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8B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2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914400"/>
            <a:ext cx="493776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rgbClr val="FFFFFF"/>
                </a:solidFill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86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91440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Linux Process Watchdog and Auto-Restart System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80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FD8CF"/>
                </a:solidFill>
              </a:rPr>
              <a:t>Operating Systems and System Programming (OSSP)  |  Batch 3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461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8D6D3"/>
                </a:solidFill>
              </a:rPr>
              <a:t>C  ·  Ubuntu Linux  ·  GCC  ·  CLI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7947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Suraj  2520030355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Kevin  250030213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Vijay  2520030387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0" y="1005840"/>
            <a:ext cx="2743200" cy="3017520"/>
          </a:xfrm>
          <a:prstGeom prst="roundRect">
            <a:avLst>
              <a:gd name="adj" fmla="val 2667"/>
            </a:avLst>
          </a:prstGeom>
          <a:solidFill>
            <a:srgbClr val="0B171C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0" y="1170432"/>
            <a:ext cx="137160" cy="1371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1223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55080" y="1170432"/>
            <a:ext cx="137160" cy="1371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1223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0" y="1170432"/>
            <a:ext cx="137160" cy="1371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2232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26480" y="1554480"/>
            <a:ext cx="2468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./watchdog ./worker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7E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[INFO] PID 2451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[WARN] worker died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7E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[INFO] restart 1/5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7E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[INFO] PID 2458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2A"/>
                </a:solidFill>
              </a:rPr>
              <a:t>Problem and 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017520" cy="3429000"/>
          </a:xfrm>
          <a:prstGeom prst="roundRect">
            <a:avLst>
              <a:gd name="adj" fmla="val 2424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71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28800"/>
            <a:ext cx="2560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Continuously monitor selected processes and automatically restart them when they terminate unexpectedly.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6576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CFEFE9"/>
                </a:solidFill>
              </a:rPr>
              <a:t>Core idea: a watchdog supervises a child process and applies a restart policy.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749040" y="118872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858768" y="1371600"/>
            <a:ext cx="365760" cy="36576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315968" y="1261872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32A"/>
                </a:solidFill>
              </a:rPr>
              <a:t>Monitor processes continuously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118872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73368" y="1371600"/>
            <a:ext cx="365760" cy="36576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830568" y="1261872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32A"/>
                </a:solidFill>
              </a:rPr>
              <a:t>Detect unexpected termination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749040" y="205740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858768" y="2240280"/>
            <a:ext cx="365760" cy="36576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315968" y="2130552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32A"/>
                </a:solidFill>
              </a:rPr>
              <a:t>Restart failed processes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63640" y="205740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73368" y="2240280"/>
            <a:ext cx="365760" cy="36576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830568" y="2130552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32A"/>
                </a:solidFill>
              </a:rPr>
              <a:t>Show PIDs and restart counts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749040" y="292608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858768" y="3108960"/>
            <a:ext cx="365760" cy="36576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315968" y="2999232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32A"/>
                </a:solidFill>
              </a:rPr>
              <a:t>Log events and errors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63640" y="292608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73368" y="3108960"/>
            <a:ext cx="365760" cy="36576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830568" y="2999232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32A"/>
                </a:solidFill>
              </a:rPr>
              <a:t>Handle signals safely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749040" y="379476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858768" y="3977640"/>
            <a:ext cx="365760" cy="36576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315968" y="3867912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32A"/>
                </a:solidFill>
              </a:rPr>
              <a:t>Limit restarts with delays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263640" y="379476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73368" y="3977640"/>
            <a:ext cx="365760" cy="36576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8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830568" y="3867912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32A"/>
                </a:solidFill>
              </a:rPr>
              <a:t>Demonstrate Linux process concepts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86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2A"/>
                </a:solidFill>
              </a:rPr>
              <a:t>Existing vs Proposed System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2926080"/>
          </a:xfrm>
          <a:prstGeom prst="roundRect">
            <a:avLst>
              <a:gd name="adj" fmla="val 2500"/>
            </a:avLst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663440" y="1188720"/>
            <a:ext cx="4023360" cy="2926080"/>
          </a:xfrm>
          <a:prstGeom prst="roundRect">
            <a:avLst>
              <a:gd name="adj" fmla="val 2500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568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monitoring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82880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2232A"/>
                </a:solidFill>
              </a:rPr>
              <a:t>Needs manual intervention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2232A"/>
                </a:solidFill>
              </a:rPr>
              <a:t>Recovery may be delayed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2232A"/>
                </a:solidFill>
              </a:rPr>
              <a:t>Repeated failures go unnoticed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2232A"/>
                </a:solidFill>
              </a:rPr>
              <a:t>Events not logged consistently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89204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watchdog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82880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2232A"/>
                </a:solidFill>
              </a:rPr>
              <a:t>Launches the program as a child process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2232A"/>
                </a:solidFill>
              </a:rPr>
              <a:t>Detects exit using waitpid()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2232A"/>
                </a:solidFill>
              </a:rPr>
              <a:t>Restarts according to policy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2232A"/>
                </a:solidFill>
              </a:rPr>
              <a:t>Logs every event with a timestamp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2976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5686F"/>
                </a:solidFill>
              </a:rPr>
              <a:t>Linux already offers tools such as systemd; this project is a simplified educational watchdog that shows the underlying OS concepts.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86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2A"/>
                </a:solidFill>
              </a:rPr>
              <a:t>Technologies Used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C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011680" y="118872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232A"/>
                </a:solidFill>
              </a:rPr>
              <a:t>Implements the watchdog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18872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Ubuntu Linux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217920" y="118872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232A"/>
                </a:solidFill>
              </a:rPr>
              <a:t>Execution environment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187452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GCC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011680" y="187452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232A"/>
                </a:solidFill>
              </a:rPr>
              <a:t>Compiles C source files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1874520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187452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fork()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187452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232A"/>
                </a:solidFill>
              </a:rPr>
              <a:t>Creates a child process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560320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256032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execvp()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2011680" y="256032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232A"/>
                </a:solidFill>
              </a:rPr>
              <a:t>Runs the selected program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2560320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46320" y="256032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waitpid()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256032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232A"/>
                </a:solidFill>
              </a:rPr>
              <a:t>Detects termination, collects status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246120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324612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sigaction()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2011680" y="324612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232A"/>
                </a:solidFill>
              </a:rPr>
              <a:t>Configures signal handling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63440" y="3246120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46320" y="324612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Makefile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217920" y="324612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232A"/>
                </a:solidFill>
              </a:rPr>
              <a:t>Automates compilation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3931920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0080" y="393192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Bash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2011680" y="393192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232A"/>
                </a:solidFill>
              </a:rPr>
              <a:t>Supports automated testing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663440" y="3931920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846320" y="393192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Log files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217920" y="393192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232A"/>
                </a:solidFill>
              </a:rPr>
              <a:t>Store process events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86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2A"/>
                </a:solidFill>
              </a:rPr>
              <a:t>System Modules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365760" cy="36576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371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745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232A"/>
                </a:solidFill>
              </a:rPr>
              <a:t>Reads arguments, validates configuration, initializes the watchdog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46120" y="118872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29000" y="1371600"/>
            <a:ext cx="365760" cy="36576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931920" y="1371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 Manager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8745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232A"/>
                </a:solidFill>
              </a:rPr>
              <a:t>Creates children and launches the program with fork() and execvp()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35040" y="118872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0" y="1371600"/>
            <a:ext cx="365760" cy="36576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720840" y="1371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18745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232A"/>
                </a:solidFill>
              </a:rPr>
              <a:t>Detects termination with waitpid() and reads the status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97180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154680"/>
            <a:ext cx="365760" cy="36576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154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Restart Manager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6576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232A"/>
                </a:solidFill>
              </a:rPr>
              <a:t>Decides restarts; applies counts, delays and limits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46120" y="297180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429000" y="3154680"/>
            <a:ext cx="365760" cy="36576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931920" y="3154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 Handler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3429000" y="36576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232A"/>
                </a:solidFill>
              </a:rPr>
              <a:t>Handles SIGINT and SIGTERM for safe shutdown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035040" y="297180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17920" y="3154680"/>
            <a:ext cx="365760" cy="36576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720840" y="3154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Logger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217920" y="36576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232A"/>
                </a:solidFill>
              </a:rPr>
              <a:t>Records timestamps, PIDs, reasons, attempts and errors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86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2A"/>
                </a:solidFill>
              </a:rPr>
              <a:t>System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12232A"/>
          </a:solidFill>
          <a:ln w="12700">
            <a:solidFill>
              <a:srgbClr val="1223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User / CLI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286000" y="1554480"/>
            <a:ext cx="304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→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590495" y="128016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81935" y="128016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Watchdog Controller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419295" y="1554480"/>
            <a:ext cx="304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723790" y="128016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12232A"/>
          </a:solidFill>
          <a:ln w="12700">
            <a:solidFill>
              <a:srgbClr val="12232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15230" y="128016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Process Manager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552590" y="1554480"/>
            <a:ext cx="304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857086" y="128016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48526" y="128016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Monitored Child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634326" y="21488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↓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857086" y="274320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12232A"/>
          </a:solidFill>
          <a:ln w="12700">
            <a:solidFill>
              <a:srgbClr val="12232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48526" y="274320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Termination Detection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552590" y="3017520"/>
            <a:ext cx="304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←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723790" y="274320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15230" y="274320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Restart Policy Evaluation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419295" y="3017520"/>
            <a:ext cx="304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←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2590495" y="274320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12232A"/>
          </a:solidFill>
          <a:ln w="12700">
            <a:solidFill>
              <a:srgbClr val="12232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681935" y="274320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Restart Limit Check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2286000" y="3017520"/>
            <a:ext cx="304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←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57200" y="274320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274320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Restart or Stop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" y="397764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7200" y="3977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Logger records events at every stage of execution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86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2A"/>
                </a:solidFill>
              </a:rPr>
              <a:t>Algorithm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347472" cy="347472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11887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32A"/>
                </a:solidFill>
              </a:rPr>
              <a:t>Start the watchdog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82496"/>
            <a:ext cx="347472" cy="347472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68249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32A"/>
                </a:solidFill>
              </a:rPr>
              <a:t>Read and validate configuration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176272"/>
            <a:ext cx="347472" cy="347472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17627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32A"/>
                </a:solidFill>
              </a:rPr>
              <a:t>Launch program as child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670048"/>
            <a:ext cx="347472" cy="347472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26700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32A"/>
                </a:solidFill>
              </a:rPr>
              <a:t>Record the child PID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163824"/>
            <a:ext cx="347472" cy="347472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16382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32A"/>
                </a:solidFill>
              </a:rPr>
              <a:t>Wait for child to terminate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657600"/>
            <a:ext cx="347472" cy="347472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36576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32A"/>
                </a:solidFill>
              </a:rPr>
              <a:t>Get exit status or signal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151376"/>
            <a:ext cx="347472" cy="347472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415137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32A"/>
                </a:solidFill>
              </a:rPr>
              <a:t>Decide if termination was unexpected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1188720"/>
            <a:ext cx="347472" cy="347472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8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166360" y="11887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32A"/>
                </a:solidFill>
              </a:rPr>
              <a:t>Check that restart is enabled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663440" y="1682496"/>
            <a:ext cx="347472" cy="347472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9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166360" y="168249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32A"/>
                </a:solidFill>
              </a:rPr>
              <a:t>Check maximum restart limit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663440" y="2176272"/>
            <a:ext cx="347472" cy="347472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10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166360" y="217627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32A"/>
                </a:solidFill>
              </a:rPr>
              <a:t>Wait for the restart delay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663440" y="2670048"/>
            <a:ext cx="347472" cy="347472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11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166360" y="26700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32A"/>
                </a:solidFill>
              </a:rPr>
              <a:t>Launch a new child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663440" y="3163824"/>
            <a:ext cx="347472" cy="347472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12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166360" y="316382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32A"/>
                </a:solidFill>
              </a:rPr>
              <a:t>Update count and log event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663440" y="3657600"/>
            <a:ext cx="347472" cy="347472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13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166360" y="36576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32A"/>
                </a:solidFill>
              </a:rPr>
              <a:t>Repeat the monitoring cycle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4663440" y="4151376"/>
            <a:ext cx="347472" cy="347472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14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166360" y="415137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32A"/>
                </a:solidFill>
              </a:rPr>
              <a:t>Shut down, close resources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86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2A"/>
                </a:solidFill>
              </a:rPr>
              <a:t>Flowchart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1371600" cy="868680"/>
          </a:xfrm>
          <a:prstGeom prst="ellipse">
            <a:avLst/>
          </a:prstGeom>
          <a:solidFill>
            <a:srgbClr val="12232A"/>
          </a:solidFill>
          <a:ln w="19050">
            <a:solidFill>
              <a:srgbClr val="12232A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Start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1280160"/>
            <a:ext cx="3429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→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2171700" y="1280160"/>
            <a:ext cx="1371600" cy="868680"/>
          </a:xfrm>
          <a:prstGeom prst="roundRect">
            <a:avLst/>
          </a:prstGeom>
          <a:solidFill>
            <a:srgbClr val="0F766E"/>
          </a:solidFill>
          <a:ln w="19050">
            <a:solidFill>
              <a:srgbClr val="0F766E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Read configuration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543300" y="1280160"/>
            <a:ext cx="3429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→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3886200" y="1280160"/>
            <a:ext cx="1371600" cy="868680"/>
          </a:xfrm>
          <a:prstGeom prst="roundRect">
            <a:avLst/>
          </a:prstGeom>
          <a:solidFill>
            <a:srgbClr val="0F766E"/>
          </a:solidFill>
          <a:ln w="19050">
            <a:solidFill>
              <a:srgbClr val="0F766E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Launch child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257800" y="1280160"/>
            <a:ext cx="3429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600700" y="1280160"/>
            <a:ext cx="1371600" cy="868680"/>
          </a:xfrm>
          <a:prstGeom prst="roundRect">
            <a:avLst/>
          </a:prstGeom>
          <a:solidFill>
            <a:srgbClr val="0F766E"/>
          </a:solidFill>
          <a:ln w="19050">
            <a:solidFill>
              <a:srgbClr val="0F766E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Monitor child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972300" y="1280160"/>
            <a:ext cx="3429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315200" y="1280160"/>
            <a:ext cx="1371600" cy="868680"/>
          </a:xfrm>
          <a:prstGeom prst="diamond">
            <a:avLst/>
          </a:prstGeom>
          <a:solidFill>
            <a:srgbClr val="FEF3DC"/>
          </a:solidFill>
          <a:ln w="19050"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32A"/>
                </a:solidFill>
              </a:rPr>
              <a:t>Exited?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214884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↓  Yes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0" y="2743200"/>
            <a:ext cx="1371600" cy="868680"/>
          </a:xfrm>
          <a:prstGeom prst="roundRect">
            <a:avLst/>
          </a:prstGeom>
          <a:solidFill>
            <a:srgbClr val="0F766E"/>
          </a:solidFill>
          <a:ln w="19050">
            <a:solidFill>
              <a:srgbClr val="0F766E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Examine exit status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972300" y="2743200"/>
            <a:ext cx="3429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←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600700" y="2743200"/>
            <a:ext cx="1371600" cy="868680"/>
          </a:xfrm>
          <a:prstGeom prst="diamond">
            <a:avLst/>
          </a:prstGeom>
          <a:solidFill>
            <a:srgbClr val="FEF3DC"/>
          </a:solidFill>
          <a:ln w="19050"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32A"/>
                </a:solidFill>
              </a:rPr>
              <a:t>Should restart?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257800" y="2743200"/>
            <a:ext cx="3429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←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886200" y="2743200"/>
            <a:ext cx="1371600" cy="868680"/>
          </a:xfrm>
          <a:prstGeom prst="diamond">
            <a:avLst/>
          </a:prstGeom>
          <a:solidFill>
            <a:srgbClr val="FEF3DC"/>
          </a:solidFill>
          <a:ln w="19050"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32A"/>
                </a:solidFill>
              </a:rPr>
              <a:t>Limit reached?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543300" y="2743200"/>
            <a:ext cx="3429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←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2171700" y="2743200"/>
            <a:ext cx="1371600" cy="868680"/>
          </a:xfrm>
          <a:prstGeom prst="roundRect">
            <a:avLst/>
          </a:prstGeom>
          <a:solidFill>
            <a:srgbClr val="0F766E"/>
          </a:solidFill>
          <a:ln w="19050">
            <a:solidFill>
              <a:srgbClr val="0F766E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Wait for delay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828800" y="2743200"/>
            <a:ext cx="3429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←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2743200"/>
            <a:ext cx="1371600" cy="868680"/>
          </a:xfrm>
          <a:prstGeom prst="roundRect">
            <a:avLst/>
          </a:prstGeom>
          <a:solidFill>
            <a:srgbClr val="0F766E"/>
          </a:solidFill>
          <a:ln w="19050">
            <a:solidFill>
              <a:srgbClr val="0F766E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Restart process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509260" y="36576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686F"/>
                </a:solidFill>
              </a:rPr>
              <a:t>No → stop monitoring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794760" y="36576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686F"/>
                </a:solidFill>
              </a:rPr>
              <a:t>Yes → stop restarting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65760" y="36576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686F"/>
                </a:solidFill>
              </a:rPr>
              <a:t>Restart returns to monitoring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297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5686F"/>
                </a:solidFill>
              </a:rPr>
              <a:t>Exited? No → keep monitoring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86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2A"/>
                </a:solidFill>
              </a:rPr>
              <a:t>Core Features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554480" cy="1508760"/>
          </a:xfrm>
          <a:prstGeom prst="roundRect">
            <a:avLst>
              <a:gd name="adj" fmla="val 4848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417320"/>
            <a:ext cx="365760" cy="36576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92024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232A"/>
                </a:solidFill>
              </a:rPr>
              <a:t>Continuous monitoring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103120" y="1280160"/>
            <a:ext cx="1554480" cy="1508760"/>
          </a:xfrm>
          <a:prstGeom prst="roundRect">
            <a:avLst>
              <a:gd name="adj" fmla="val 4848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40280" y="1417320"/>
            <a:ext cx="365760" cy="36576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240280" y="192024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232A"/>
                </a:solidFill>
              </a:rPr>
              <a:t>Automatic restart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749040" y="1280160"/>
            <a:ext cx="1554480" cy="1508760"/>
          </a:xfrm>
          <a:prstGeom prst="roundRect">
            <a:avLst>
              <a:gd name="adj" fmla="val 4848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86200" y="1417320"/>
            <a:ext cx="365760" cy="36576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886200" y="192024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232A"/>
                </a:solidFill>
              </a:rPr>
              <a:t>PID display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394960" y="1280160"/>
            <a:ext cx="1554480" cy="1508760"/>
          </a:xfrm>
          <a:prstGeom prst="roundRect">
            <a:avLst>
              <a:gd name="adj" fmla="val 4848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532120" y="1417320"/>
            <a:ext cx="365760" cy="36576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532120" y="192024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232A"/>
                </a:solidFill>
              </a:rPr>
              <a:t>Restart-attempt counting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040880" y="1280160"/>
            <a:ext cx="1554480" cy="1508760"/>
          </a:xfrm>
          <a:prstGeom prst="roundRect">
            <a:avLst>
              <a:gd name="adj" fmla="val 4848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78040" y="1417320"/>
            <a:ext cx="365760" cy="36576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178040" y="192024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232A"/>
                </a:solidFill>
              </a:rPr>
              <a:t>Configurable restart delay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1554480" cy="1508760"/>
          </a:xfrm>
          <a:prstGeom prst="roundRect">
            <a:avLst>
              <a:gd name="adj" fmla="val 4848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3063240"/>
            <a:ext cx="365760" cy="36576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" y="35661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232A"/>
                </a:solidFill>
              </a:rPr>
              <a:t>Maximum restart limit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103120" y="2926080"/>
            <a:ext cx="1554480" cy="1508760"/>
          </a:xfrm>
          <a:prstGeom prst="roundRect">
            <a:avLst>
              <a:gd name="adj" fmla="val 4848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240280" y="3063240"/>
            <a:ext cx="365760" cy="36576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2240280" y="35661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232A"/>
                </a:solidFill>
              </a:rPr>
              <a:t>Timestamped log files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749040" y="2926080"/>
            <a:ext cx="1554480" cy="1508760"/>
          </a:xfrm>
          <a:prstGeom prst="roundRect">
            <a:avLst>
              <a:gd name="adj" fmla="val 4848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886200" y="3063240"/>
            <a:ext cx="365760" cy="36576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3886200" y="35661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232A"/>
                </a:solidFill>
              </a:rPr>
              <a:t>Launch-failure handling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394960" y="2926080"/>
            <a:ext cx="1554480" cy="1508760"/>
          </a:xfrm>
          <a:prstGeom prst="roundRect">
            <a:avLst>
              <a:gd name="adj" fmla="val 4848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532120" y="3063240"/>
            <a:ext cx="365760" cy="36576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532120" y="35661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232A"/>
                </a:solidFill>
              </a:rPr>
              <a:t>Safe shutdown via signals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040880" y="2926080"/>
            <a:ext cx="1554480" cy="1508760"/>
          </a:xfrm>
          <a:prstGeom prst="roundRect">
            <a:avLst>
              <a:gd name="adj" fmla="val 4848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178040" y="3063240"/>
            <a:ext cx="365760" cy="36576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178040" y="35661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232A"/>
                </a:solidFill>
              </a:rPr>
              <a:t>Cleanup of terminated children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86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2A"/>
                </a:solidFill>
              </a:rPr>
              <a:t>Demonstration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310896" cy="310896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18872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32A"/>
                </a:solidFill>
              </a:rPr>
              <a:t>Start the watchdog in Ubuntu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09344"/>
            <a:ext cx="310896" cy="310896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60934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32A"/>
                </a:solidFill>
              </a:rPr>
              <a:t>Launch a long-running worker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029968"/>
            <a:ext cx="310896" cy="310896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02996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32A"/>
                </a:solidFill>
              </a:rPr>
              <a:t>Note its PID in the terminal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450592"/>
            <a:ext cx="310896" cy="310896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245059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32A"/>
                </a:solidFill>
              </a:rPr>
              <a:t>Kill the worker unexpectedly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871216"/>
            <a:ext cx="310896" cy="310896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287121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32A"/>
                </a:solidFill>
              </a:rPr>
              <a:t>Confirm the watchdog detects it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291840"/>
            <a:ext cx="310896" cy="310896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329184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32A"/>
                </a:solidFill>
              </a:rPr>
              <a:t>See the replacement PID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712464"/>
            <a:ext cx="310896" cy="310896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371246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32A"/>
                </a:solidFill>
              </a:rPr>
              <a:t>Inspect the log file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133088"/>
            <a:ext cx="310896" cy="310896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8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13308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32A"/>
                </a:solidFill>
              </a:rPr>
              <a:t>Test restart limit and shutdown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63440" y="1188720"/>
            <a:ext cx="4023360" cy="2880360"/>
          </a:xfrm>
          <a:prstGeom prst="roundRect">
            <a:avLst>
              <a:gd name="adj" fmla="val 2540"/>
            </a:avLst>
          </a:prstGeom>
          <a:solidFill>
            <a:srgbClr val="0B171C"/>
          </a:solidFill>
          <a:ln w="12700">
            <a:solidFill>
              <a:srgbClr val="0B171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0" y="137160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7E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[INFO] Watchdog started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7E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[INFO] Process started with PID: 2451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[WARN] Monitored process terminated unexpectedly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7E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[INFO] Restart attempt: 1/5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7E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[INFO] Restarting process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7E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[INFO] Process restarted with PID: 2458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7E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[INFO] Monitoring continues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663440" y="4206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5686F"/>
                </a:solidFill>
              </a:rPr>
              <a:t>Illustrative sample output, not an executed result.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86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2A"/>
                </a:solidFill>
              </a:rPr>
              <a:t>Testing and Validation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45720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Test case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Expected result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32A"/>
                          </a:solidFill>
                        </a:rPr>
                        <a:t>Start a stable worker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32A"/>
                          </a:solidFill>
                        </a:rPr>
                        <a:t>Worker stays under supervision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32A"/>
                          </a:solidFill>
                        </a:rPr>
                        <a:t>Terminate worker unexpectedly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32A"/>
                          </a:solidFill>
                        </a:rPr>
                        <a:t>Watchdog detects termination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32A"/>
                          </a:solidFill>
                        </a:rPr>
                        <a:t>Enable automatic restart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32A"/>
                          </a:solidFill>
                        </a:rPr>
                        <a:t>Replacement process starts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32A"/>
                          </a:solidFill>
                        </a:rPr>
                        <a:t>Repeated worker failures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32A"/>
                          </a:solidFill>
                        </a:rPr>
                        <a:t>Restart limit is enforced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32A"/>
                          </a:solidFill>
                        </a:rPr>
                        <a:t>Invalid executable path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32A"/>
                          </a:solidFill>
                        </a:rPr>
                        <a:t>Error displayed and logged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32A"/>
                          </a:solidFill>
                        </a:rPr>
                        <a:t>Press Ctrl+C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32A"/>
                          </a:solidFill>
                        </a:rPr>
                        <a:t>Watchdog shuts down safely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32A"/>
                          </a:solidFill>
                        </a:rPr>
                        <a:t>Inspect log file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32A"/>
                          </a:solidFill>
                        </a:rPr>
                        <a:t>Process events are recorded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32A"/>
                          </a:solidFill>
                        </a:rPr>
                        <a:t>Terminate child process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32A"/>
                          </a:solidFill>
                        </a:rPr>
                        <a:t>Child is properly reaped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5262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5686F"/>
                </a:solidFill>
              </a:rPr>
              <a:t>Record actual results only after running the program.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86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2A"/>
                </a:solidFill>
              </a:rPr>
              <a:t>Advantages and Limitations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3291840"/>
          </a:xfrm>
          <a:prstGeom prst="roundRect">
            <a:avLst>
              <a:gd name="adj" fmla="val 2222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663440" y="1188720"/>
            <a:ext cx="4023360" cy="3291840"/>
          </a:xfrm>
          <a:prstGeom prst="roundRect">
            <a:avLst>
              <a:gd name="adj" fmla="val 2222"/>
            </a:avLst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82880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2232A"/>
                </a:solidFill>
              </a:rPr>
              <a:t>Less manual intervention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2232A"/>
                </a:solidFill>
              </a:rPr>
              <a:t>Automatic process recovery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2232A"/>
                </a:solidFill>
              </a:rPr>
              <a:t>Important events are logged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2232A"/>
                </a:solidFill>
              </a:rPr>
              <a:t>Restart limits and delays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2232A"/>
                </a:solidFill>
              </a:rPr>
              <a:t>Practical OS concepts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2232A"/>
                </a:solidFill>
              </a:rPr>
              <a:t>Builds system-programming skills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89204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24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82880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2232A"/>
                </a:solidFill>
              </a:rPr>
              <a:t>The watchdog itself must keep running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2232A"/>
                </a:solidFill>
              </a:rPr>
              <a:t>Restarting does not fix the root cause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2232A"/>
                </a:solidFill>
              </a:rPr>
              <a:t>Unrelated processes need other mechanisms and permissions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2232A"/>
                </a:solidFill>
              </a:rPr>
              <a:t>Not a replacement for a production service manager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86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2A"/>
                </a:solidFill>
              </a:rPr>
              <a:t>Applications and Future Enhancements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840480" cy="457200"/>
          </a:xfrm>
          <a:prstGeom prst="roundRect">
            <a:avLst>
              <a:gd name="adj" fmla="val 16000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459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32A"/>
                </a:solidFill>
              </a:rPr>
              <a:t>Background worker supervision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212848"/>
            <a:ext cx="3840480" cy="457200"/>
          </a:xfrm>
          <a:prstGeom prst="roundRect">
            <a:avLst>
              <a:gd name="adj" fmla="val 16000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2128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32A"/>
                </a:solidFill>
              </a:rPr>
              <a:t>Long-running script monitoring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779776"/>
            <a:ext cx="3840480" cy="457200"/>
          </a:xfrm>
          <a:prstGeom prst="roundRect">
            <a:avLst>
              <a:gd name="adj" fmla="val 16000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77977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32A"/>
                </a:solidFill>
              </a:rPr>
              <a:t>Linux system-programming labs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346704"/>
            <a:ext cx="3840480" cy="457200"/>
          </a:xfrm>
          <a:prstGeom prst="roundRect">
            <a:avLst>
              <a:gd name="adj" fmla="val 16000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34670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32A"/>
                </a:solidFill>
              </a:rPr>
              <a:t>Process synchronization demos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913632"/>
            <a:ext cx="3840480" cy="457200"/>
          </a:xfrm>
          <a:prstGeom prst="roundRect">
            <a:avLst>
              <a:gd name="adj" fmla="val 16000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91363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32A"/>
                </a:solidFill>
              </a:rPr>
              <a:t>Basic service-recovery experiments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11430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1664208"/>
            <a:ext cx="310896" cy="310896"/>
          </a:xfrm>
          <a:prstGeom prst="ellipse">
            <a:avLst/>
          </a:prstGeom>
          <a:solidFill>
            <a:srgbClr val="1223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120640" y="166420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32A"/>
                </a:solidFill>
              </a:rPr>
              <a:t>Monitor multiple processes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2139696"/>
            <a:ext cx="310896" cy="310896"/>
          </a:xfrm>
          <a:prstGeom prst="ellipse">
            <a:avLst/>
          </a:prstGeom>
          <a:solidFill>
            <a:srgbClr val="1223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213969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32A"/>
                </a:solidFill>
              </a:rPr>
              <a:t>Email or desktop notifications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663440" y="2615184"/>
            <a:ext cx="310896" cy="310896"/>
          </a:xfrm>
          <a:prstGeom prst="ellipse">
            <a:avLst/>
          </a:prstGeom>
          <a:solidFill>
            <a:srgbClr val="1223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120640" y="261518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32A"/>
                </a:solidFill>
              </a:rPr>
              <a:t>Detailed process statistics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663440" y="3090672"/>
            <a:ext cx="310896" cy="310896"/>
          </a:xfrm>
          <a:prstGeom prst="ellipse">
            <a:avLst/>
          </a:prstGeom>
          <a:solidFill>
            <a:srgbClr val="1223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120640" y="309067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32A"/>
                </a:solidFill>
              </a:rPr>
              <a:t>Persistent restart history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663440" y="3566160"/>
            <a:ext cx="310896" cy="310896"/>
          </a:xfrm>
          <a:prstGeom prst="ellipse">
            <a:avLst/>
          </a:prstGeom>
          <a:solidFill>
            <a:srgbClr val="1223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120640" y="356616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32A"/>
                </a:solidFill>
              </a:rPr>
              <a:t>Configuration-file support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663440" y="4041648"/>
            <a:ext cx="310896" cy="310896"/>
          </a:xfrm>
          <a:prstGeom prst="ellipse">
            <a:avLst/>
          </a:prstGeom>
          <a:solidFill>
            <a:srgbClr val="1223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120640" y="404164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32A"/>
                </a:solidFill>
              </a:rPr>
              <a:t>Integration with service managers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86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Conclusion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A C program can supervise child processes on Ubuntu by combining process creation, program execution, termination detection, signal handling, restart policies and logging. Automatic recovery reduces manual effort when a monitored process fails unexpectedly.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577840" y="1188720"/>
            <a:ext cx="3108960" cy="777240"/>
          </a:xfrm>
          <a:prstGeom prst="roundRect">
            <a:avLst>
              <a:gd name="adj" fmla="val 9412"/>
            </a:avLst>
          </a:prstGeom>
          <a:solidFill>
            <a:srgbClr val="1D3A42"/>
          </a:solidFill>
          <a:ln w="12700">
            <a:solidFill>
              <a:srgbClr val="1D3A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60720" y="1234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E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fork() + execvp()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760720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8D6D3"/>
                </a:solidFill>
              </a:rPr>
              <a:t>Create and launch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577840" y="2103120"/>
            <a:ext cx="3108960" cy="777240"/>
          </a:xfrm>
          <a:prstGeom prst="roundRect">
            <a:avLst>
              <a:gd name="adj" fmla="val 9412"/>
            </a:avLst>
          </a:prstGeom>
          <a:solidFill>
            <a:srgbClr val="1D3A42"/>
          </a:solidFill>
          <a:ln w="12700">
            <a:solidFill>
              <a:srgbClr val="1D3A4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760720" y="2148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E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waitpid()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760720" y="2514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8D6D3"/>
                </a:solidFill>
              </a:rPr>
              <a:t>Detect and reap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577840" y="3017520"/>
            <a:ext cx="3108960" cy="777240"/>
          </a:xfrm>
          <a:prstGeom prst="roundRect">
            <a:avLst>
              <a:gd name="adj" fmla="val 9412"/>
            </a:avLst>
          </a:prstGeom>
          <a:solidFill>
            <a:srgbClr val="1D3A42"/>
          </a:solidFill>
          <a:ln w="12700">
            <a:solidFill>
              <a:srgbClr val="1D3A4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760720" y="3063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E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sigaction()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76072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8D6D3"/>
                </a:solidFill>
              </a:rPr>
              <a:t>Shut down safely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114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B8B3"/>
                </a:solidFill>
              </a:rPr>
              <a:t>References: Linux man pages (fork, exec, waitpid, kill, sigaction) at man7.org/linux/man-pages  ·  GCC and Ubuntu documentation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8B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atchdog">
  <a:themeElements>
    <a:clrScheme name="Watchdog">
      <a:dk1>
        <a:srgbClr val="12232A"/>
      </a:dk1>
      <a:lt1>
        <a:srgbClr val="FFFFFF"/>
      </a:lt1>
      <a:dk2>
        <a:srgbClr val="0F766E"/>
      </a:dk2>
      <a:lt2>
        <a:srgbClr val="E6F2F0"/>
      </a:lt2>
      <a:accent1>
        <a:srgbClr val="0F766E"/>
      </a:accent1>
      <a:accent2>
        <a:srgbClr val="F59E0B"/>
      </a:accent2>
      <a:accent3>
        <a:srgbClr val="38BDF8"/>
      </a:accent3>
      <a:accent4>
        <a:srgbClr val="16A34A"/>
      </a:accent4>
      <a:accent5>
        <a:srgbClr val="64748B"/>
      </a:accent5>
      <a:accent6>
        <a:srgbClr val="DC2626"/>
      </a:accent6>
      <a:hlink>
        <a:srgbClr val="0F766E"/>
      </a:hlink>
      <a:folHlink>
        <a:srgbClr val="55686F"/>
      </a:folHlink>
    </a:clrScheme>
    <a:fontScheme name="Watchdog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Process Watchdog and Auto-Restart System</dc:title>
  <dc:subject>PptxGenJS Presentation</dc:subject>
  <dc:creator>Suraj, Kevin, Vijay</dc:creator>
  <cp:lastModifiedBy>Suraj, Kevin, Vijay</cp:lastModifiedBy>
  <cp:revision>1</cp:revision>
  <dcterms:created xsi:type="dcterms:W3CDTF">2026-10-17T05:53:16Z</dcterms:created>
  <dcterms:modified xsi:type="dcterms:W3CDTF">2026-10-17T05:53:16Z</dcterms:modified>
</cp:coreProperties>
</file>